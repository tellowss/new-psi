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645920"/>
            <a:ext cx="103601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Safety AI System / Daewoo E&amp;C Open Innovation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914400" y="2011680"/>
            <a:ext cx="1036015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NEW-PSI Safety Intelligence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914400" y="2834640"/>
            <a:ext cx="103601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기반 근로자 참여형 위험성평가 분석 및 월별 안전계도 시스템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914400" y="3657600"/>
            <a:ext cx="2286000" cy="54864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4023360"/>
            <a:ext cx="1036015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예비창업자 박성훈</a:t>
            </a:r>
            <a:endParaRPr lang="en-US" sz="13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대우건설 Hyper-Safety &amp; AI Open Innovation 기술소개자료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14400" y="6217920"/>
            <a:ext cx="103601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특허출원번호: 10-2026-0039151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731520"/>
            <a:ext cx="11274552" cy="27432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현장 안전관리의 문제 정의 (Bottleneck)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8229600" y="27432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NEW-PSI Safety Intelligence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6217920"/>
            <a:ext cx="11274552" cy="18288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630936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NEW-PSI: AI 기반 근로자 참여형 위험성평가 분석 및 월별 안전계도 시스템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229600" y="630936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특허출원: 10-2026-0039151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881360" y="630936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57200" y="10972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기존 건설 안전관리의 5대 한계점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57200" y="1554480"/>
            <a:ext cx="548640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작성 및 서명 위주의 형식적 위험성평가로 근로자 실효적 이해도 부족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근로자가 오늘 작업의 진짜 위험요인을 숙지했는지 정량적 검증수단 부재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현장 수기 기록지의 미데이터화(Dark Data)로 공종별 재발 유해 요인 추적 불가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외국인 근로자 전파 교육에 모국어 기반 환류 검증 체계 현저히 부족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안전관리자가 수기 자료 취합/보고서 작성 등 행정에 시간의 30% 낭비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583680" y="1371600"/>
            <a:ext cx="4846320" cy="20116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858000" y="1554480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핵심 극복 과제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858000" y="1920240"/>
            <a:ext cx="42976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위험성평가 수기 기록에 AI OCR 및 자연어처리를 결합하여 근로자 응답 표준화 및 6대 안전 지표를 산출하고, 이를 익명화된 월별 TBM 교안으로 환류하여 자율 예방 문화를 조성합니다.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583680" y="3657600"/>
            <a:ext cx="4846320" cy="2011680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858000" y="3931920"/>
            <a:ext cx="4297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30% 이상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6858000" y="4572000"/>
            <a:ext cx="42976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수기 기록 OCR 및 AI 리포트 초안 자동화 적용 시</a:t>
            </a:r>
            <a:endParaRPr lang="en-US" sz="1100" dirty="0"/>
          </a:p>
          <a:p>
            <a:pPr algn="ctr"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안전관리자 불필요 서류정리 및 보고서 가공 업무 시간 절감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731520"/>
            <a:ext cx="11274552" cy="27432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NEW-PSI 해결 구조 및 데이터 흐름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8229600" y="27432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NEW-PSI Safety Intelligence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6217920"/>
            <a:ext cx="11274552" cy="18288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630936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NEW-PSI: AI 기반 근로자 참여형 위험성평가 분석 및 월별 안전계도 시스템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229600" y="630936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특허출원: 10-2026-0039151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881360" y="630936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57200" y="1097280"/>
            <a:ext cx="112745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수기 위험성평가 분석부터 현장 전파교육 환류까지의 순환 사이클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457200" y="1920240"/>
            <a:ext cx="1234440" cy="2194560"/>
          </a:xfrm>
          <a:prstGeom prst="roundRect">
            <a:avLst/>
          </a:prstGeom>
          <a:solidFill>
            <a:srgbClr val="F8FAFC"/>
          </a:solidFill>
          <a:ln w="25400">
            <a:solidFill>
              <a:srgbClr val="CBD5E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" y="2103120"/>
            <a:ext cx="320040" cy="320040"/>
          </a:xfrm>
          <a:prstGeom prst="rect">
            <a:avLst/>
          </a:prstGeom>
          <a:solidFill>
            <a:srgbClr val="0F172A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02920" y="2560320"/>
            <a:ext cx="1143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수기지 수집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02920" y="2926080"/>
            <a:ext cx="11430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자필 위험성평가지 취합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1691640" y="2834640"/>
            <a:ext cx="411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➔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2103120" y="1920240"/>
            <a:ext cx="1234440" cy="2194560"/>
          </a:xfrm>
          <a:prstGeom prst="roundRect">
            <a:avLst/>
          </a:prstGeom>
          <a:solidFill>
            <a:srgbClr val="F8FAFC"/>
          </a:solidFill>
          <a:ln w="25400">
            <a:solidFill>
              <a:srgbClr val="CBD5E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560320" y="2103120"/>
            <a:ext cx="320040" cy="320040"/>
          </a:xfrm>
          <a:prstGeom prst="rect">
            <a:avLst/>
          </a:prstGeom>
          <a:solidFill>
            <a:srgbClr val="0F172A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148840" y="2560320"/>
            <a:ext cx="1143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OCR 인식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2148840" y="2926080"/>
            <a:ext cx="11430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모바일 촬영 문자 텍스트화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3337560" y="2834640"/>
            <a:ext cx="411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➔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3749040" y="1920240"/>
            <a:ext cx="1234440" cy="2194560"/>
          </a:xfrm>
          <a:prstGeom prst="roundRect">
            <a:avLst/>
          </a:prstGeom>
          <a:solidFill>
            <a:srgbClr val="F8FAFC"/>
          </a:solidFill>
          <a:ln w="25400">
            <a:solidFill>
              <a:srgbClr val="CBD5E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206240" y="2103120"/>
            <a:ext cx="320040" cy="320040"/>
          </a:xfrm>
          <a:prstGeom prst="rect">
            <a:avLst/>
          </a:prstGeom>
          <a:solidFill>
            <a:srgbClr val="0F172A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794760" y="2560320"/>
            <a:ext cx="1143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5문항 구조화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794760" y="2926080"/>
            <a:ext cx="11430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자유 서술을 5대 항목 태깅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4983480" y="2834640"/>
            <a:ext cx="411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➔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5394960" y="1920240"/>
            <a:ext cx="1234440" cy="2194560"/>
          </a:xfrm>
          <a:prstGeom prst="roundRect">
            <a:avLst/>
          </a:prstGeom>
          <a:solidFill>
            <a:srgbClr val="F8FAFC"/>
          </a:solidFill>
          <a:ln w="25400">
            <a:solidFill>
              <a:srgbClr val="CBD5E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852160" y="2103120"/>
            <a:ext cx="320040" cy="320040"/>
          </a:xfrm>
          <a:prstGeom prst="rect">
            <a:avLst/>
          </a:prstGeom>
          <a:solidFill>
            <a:srgbClr val="0F172A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440680" y="2560320"/>
            <a:ext cx="1143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6대 지표화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440680" y="2926080"/>
            <a:ext cx="11430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안전 인식 지표 정량화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6629400" y="2834640"/>
            <a:ext cx="411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➔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7040880" y="1920240"/>
            <a:ext cx="1234440" cy="2194560"/>
          </a:xfrm>
          <a:prstGeom prst="roundRect">
            <a:avLst/>
          </a:prstGeom>
          <a:solidFill>
            <a:srgbClr val="FFFAF7"/>
          </a:solidFill>
          <a:ln w="25400">
            <a:solidFill>
              <a:srgbClr val="F9731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498080" y="2103120"/>
            <a:ext cx="320040" cy="320040"/>
          </a:xfrm>
          <a:prstGeom prst="rect">
            <a:avLst/>
          </a:prstGeom>
          <a:solidFill>
            <a:srgbClr val="F97316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7086600" y="2560320"/>
            <a:ext cx="1143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관리자 검토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7086600" y="2926080"/>
            <a:ext cx="11430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인간 피드백 최종 보정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8275320" y="2834640"/>
            <a:ext cx="411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➔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8686800" y="1920240"/>
            <a:ext cx="1234440" cy="2194560"/>
          </a:xfrm>
          <a:prstGeom prst="roundRect">
            <a:avLst/>
          </a:prstGeom>
          <a:solidFill>
            <a:srgbClr val="F8FAFC"/>
          </a:solidFill>
          <a:ln w="25400">
            <a:solidFill>
              <a:srgbClr val="CBD5E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9144000" y="2103120"/>
            <a:ext cx="320040" cy="320040"/>
          </a:xfrm>
          <a:prstGeom prst="rect">
            <a:avLst/>
          </a:prstGeom>
          <a:solidFill>
            <a:srgbClr val="0F172A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8732520" y="2560320"/>
            <a:ext cx="1143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계도 리포트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8732520" y="2926080"/>
            <a:ext cx="11430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익명화 종합 보고서 생성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9921240" y="2834640"/>
            <a:ext cx="411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➔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10332720" y="1920240"/>
            <a:ext cx="1234440" cy="2194560"/>
          </a:xfrm>
          <a:prstGeom prst="roundRect">
            <a:avLst/>
          </a:prstGeom>
          <a:solidFill>
            <a:srgbClr val="F8FAFC"/>
          </a:solidFill>
          <a:ln w="25400">
            <a:solidFill>
              <a:srgbClr val="CBD5E1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10789920" y="2103120"/>
            <a:ext cx="320040" cy="320040"/>
          </a:xfrm>
          <a:prstGeom prst="rect">
            <a:avLst/>
          </a:prstGeom>
          <a:solidFill>
            <a:srgbClr val="0F172A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10378440" y="2560320"/>
            <a:ext cx="1143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다국어 환류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10378440" y="2926080"/>
            <a:ext cx="11430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모국어 TBM 교육 연동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457200" y="4754880"/>
            <a:ext cx="11274552" cy="100584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40080" y="4846320"/>
            <a:ext cx="10881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⚠️ 대우건설 기존 종합안전관리 플랫폼과의 상생 관계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640080" y="5120640"/>
            <a:ext cx="10881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본 시스템은 대우건설의 기존 플랫폼을 대체하지 않으며, 전단계(Pre-input)에서 종이 수기 위험성평가 데이터의 디지털 무결성을 물리적으로 확보하고 정합성을 검증하여 최상의 고신뢰성 안전 데이터를 주입하기 위한 품질 보완형 인공지능 모듈로 동작합니다.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731520"/>
            <a:ext cx="11274552" cy="27432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핵심 입력자료: 자기규율 위험성평가 기록지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8229600" y="27432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NEW-PSI Safety Intelligence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6217920"/>
            <a:ext cx="11274552" cy="18288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630936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NEW-PSI: AI 기반 근로자 참여형 위험성평가 분석 및 월별 안전계도 시스템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229600" y="630936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특허출원: 10-2026-0039151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881360" y="630936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57200" y="10972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비정형 현장 서술 기록을 규격화하는 근로자 5문항 구조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57200" y="1554480"/>
            <a:ext cx="548640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1문항: 가장 위험한 작업 [작업지 인지] - 오늘 본인이 담당하는 작업 공종 명확성 진단</a:t>
            </a:r>
            <a:endParaRPr lang="en-US" sz="1150" dirty="0"/>
          </a:p>
          <a:p>
            <a:pPr indent="0" marL="0">
              <a:lnSpc>
                <a:spcPts val="1800"/>
              </a:lnSpc>
              <a:buNone/>
            </a:pPr>
            <a:endParaRPr lang="en-US" sz="11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2문항: 가장 큰 위험요소 [위험요소 특정] - 해당 작업 중 낙하, 협착 등의 위해 요인 검출</a:t>
            </a:r>
            <a:endParaRPr lang="en-US" sz="1150" dirty="0"/>
          </a:p>
          <a:p>
            <a:pPr indent="0" marL="0">
              <a:lnSpc>
                <a:spcPts val="1800"/>
              </a:lnSpc>
              <a:buNone/>
            </a:pPr>
            <a:endParaRPr lang="en-US" sz="11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3문항: 위험등급과 이유 [자기 진단 수준] - 본인이 매긴 위험도와 서술 논리 근거 대조</a:t>
            </a:r>
            <a:endParaRPr lang="en-US" sz="1150" dirty="0"/>
          </a:p>
          <a:p>
            <a:pPr indent="0" marL="0">
              <a:lnSpc>
                <a:spcPts val="1800"/>
              </a:lnSpc>
              <a:buNone/>
            </a:pPr>
            <a:endParaRPr lang="en-US" sz="11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4문항: 내가 할 수 있는 안전조치 [개인 안전대책] - 당일 개별 조치 가능한 예방 계획 수립</a:t>
            </a:r>
            <a:endParaRPr lang="en-US" sz="1150" dirty="0"/>
          </a:p>
          <a:p>
            <a:pPr indent="0" marL="0">
              <a:lnSpc>
                <a:spcPts val="1800"/>
              </a:lnSpc>
              <a:buNone/>
            </a:pPr>
            <a:endParaRPr lang="en-US" sz="11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5문항: 오늘부터 실천할 안전행동 [TBM 약속] - 동료간 수신호, 출입 통제 등 약속사항 확인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583680" y="1371600"/>
            <a:ext cx="4846320" cy="411480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858000" y="1645920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다국어 지원 자필 기록지 구성 예시 (Bilingual Sheets)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858000" y="2103120"/>
            <a:ext cx="429768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475569"/>
            </a:solidFill>
            <a:prstDash val="dash"/>
          </a:ln>
        </p:spPr>
      </p:sp>
      <p:sp>
        <p:nvSpPr>
          <p:cNvPr id="14" name="Text 12"/>
          <p:cNvSpPr/>
          <p:nvPr/>
        </p:nvSpPr>
        <p:spPr>
          <a:xfrm>
            <a:off x="6949440" y="2148840"/>
            <a:ext cx="4114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[KO] 오늘 가장 위험한 작업은 무엇인가요?</a:t>
            </a:r>
            <a:endParaRPr lang="en-US" sz="10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"고소 작업대에서 앵커 볼트 설치"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858000" y="3017520"/>
            <a:ext cx="429768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475569"/>
            </a:solidFill>
            <a:prstDash val="dash"/>
          </a:ln>
        </p:spPr>
      </p:sp>
      <p:sp>
        <p:nvSpPr>
          <p:cNvPr id="16" name="Text 14"/>
          <p:cNvSpPr/>
          <p:nvPr/>
        </p:nvSpPr>
        <p:spPr>
          <a:xfrm>
            <a:off x="6949440" y="3063240"/>
            <a:ext cx="4114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[VI] Công việc nguy hiểm nhất hôm nay là gì?</a:t>
            </a:r>
            <a:endParaRPr lang="en-US" sz="10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"Lắp đặt bulông neo trên sàn thao tác cao"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858000" y="4023360"/>
            <a:ext cx="42976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베트남어, 영어, 태국어, 미얀마어 등 현장 수요에 맞춘 다국어 평가지 서식을 지원하며, 외국인 자필 기록을 한국어로 실시간 분석 및 변역 통합 검출합니다.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731520"/>
            <a:ext cx="11274552" cy="27432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NEW-PSI 주요 기능 핵심 요약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8229600" y="27432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NEW-PSI Safety Intelligence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6217920"/>
            <a:ext cx="11274552" cy="18288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630936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NEW-PSI: AI 기반 근로자 참여형 위험성평가 분석 및 월별 안전계도 시스템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229600" y="630936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특허출원: 10-2026-0039151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881360" y="630936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57200" y="1463040"/>
            <a:ext cx="3383280" cy="2011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" y="160020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01. OCR 기반 수기 기록 고속 분석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94360" y="1965960"/>
            <a:ext cx="31089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9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현장 스캔/스마트폰 촬영 이미지를 자동 전처리 및 OCR 판독 모듈을 활용해 고속 디지털 텍스트로 적재.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389120" y="1463040"/>
            <a:ext cx="3383280" cy="2011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26280" y="160020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02. AI 자연어처리 5문항 구조화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26280" y="1965960"/>
            <a:ext cx="31089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9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자유 서술형 비정형 텍스트를 AI 문맥 엔진을 통해 5대 표준 안전 문항으로 신속히 매핑 및 오류 탐색.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8321040" y="1463040"/>
            <a:ext cx="3383280" cy="2011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458200" y="160020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03. 6대 안전인식 지표 정량화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8458200" y="1965960"/>
            <a:ext cx="31089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9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위험인지도, 공종/위험성평가 이해도, 숙련도, 이행성, 반복지적 등을 통계 점수화해 안전 인식을 계량화.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57200" y="3840480"/>
            <a:ext cx="3383280" cy="2011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94360" y="397764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04. 월별 안전 계도 리포트 생성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94360" y="4343400"/>
            <a:ext cx="31089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9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현장의 부적합 트렌드 및 취약 위험 분야를 관리자용 의사결정 시각 보고서 형태로 자동 요약 및 엑셀 출력.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389120" y="3840480"/>
            <a:ext cx="3383280" cy="2011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26280" y="397764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05. 다국어 A4 교육자료 환류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526280" y="4343400"/>
            <a:ext cx="31089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9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외국인 근로자의 다국어 취약 요소를 모국어로 번역한 1장 분량 TBM 전파 시트를 자동 생성하여 다음 달 TBM에 환류.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8321040" y="3840480"/>
            <a:ext cx="3383280" cy="2011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458200" y="397764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06. 개선이행 모니터링 추적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8458200" y="4343400"/>
            <a:ext cx="31089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9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현장의 취약 부적합 사항이 교육 전파 및 원격 피드백을 통해 실제 안전 행동의 질적 변화로 이어졌는지 연속 추적.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731520"/>
            <a:ext cx="11274552" cy="27432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프로그램 화면: 현장 종합 안전 관제센터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8229600" y="27432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NEW-PSI Safety Intelligence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6217920"/>
            <a:ext cx="11274552" cy="18288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630936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NEW-PSI: AI 기반 근로자 참여형 위험성평가 분석 및 월별 안전계도 시스템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229600" y="630936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특허출원: 10-2026-0039151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881360" y="630936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900" dirty="0"/>
          </a:p>
        </p:txBody>
      </p:sp>
      <p:pic>
        <p:nvPicPr>
          <p:cNvPr id="9" name="Image 0" descr="c:\Users\user\OneDrive\Desktop\개발실\NEW-PSI-github\docs\daewoo_deck\screenshots\01_newpsi_dashboar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17920" y="1371600"/>
            <a:ext cx="5212080" cy="411480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457200" y="13716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실시간 현장 안전 모니터링 허브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457200" y="1920240"/>
            <a:ext cx="54864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근로자의 자필 기록 분석 스코어(6대 지표)를 토대로 현장 전체의 안전도 점수 종합 통계 연산</a:t>
            </a:r>
            <a:endParaRPr lang="en-US" sz="1150" dirty="0"/>
          </a:p>
          <a:p>
            <a:pPr indent="0" marL="0">
              <a:lnSpc>
                <a:spcPts val="1800"/>
              </a:lnSpc>
              <a:buNone/>
            </a:pPr>
            <a:endParaRPr lang="en-US" sz="11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금일 공종별 위험성평가지 작성 현황 및 업로드 성공 여부의 직관적 계량 관제 기능</a:t>
            </a:r>
            <a:endParaRPr lang="en-US" sz="1150" dirty="0"/>
          </a:p>
          <a:p>
            <a:pPr indent="0" marL="0">
              <a:lnSpc>
                <a:spcPts val="1800"/>
              </a:lnSpc>
              <a:buNone/>
            </a:pPr>
            <a:endParaRPr lang="en-US" sz="11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위험 인지 상태가 미흡하거나 안전 조치 답변의 불성실도가 관찰된 고위험 공정 경보 표출</a:t>
            </a:r>
            <a:endParaRPr lang="en-US" sz="1150" dirty="0"/>
          </a:p>
          <a:p>
            <a:pPr indent="0" marL="0">
              <a:lnSpc>
                <a:spcPts val="1800"/>
              </a:lnSpc>
              <a:buNone/>
            </a:pPr>
            <a:endParaRPr lang="en-US" sz="11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현장 안전관리자가 즉각 순찰을 통해 교정해야 할 우범 우선 부서 정보 도출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731520"/>
            <a:ext cx="11274552" cy="27432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프로그램 화면: 위험성평가 분석 (OCR 업로드)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8229600" y="27432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NEW-PSI Safety Intelligence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6217920"/>
            <a:ext cx="11274552" cy="18288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630936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NEW-PSI: AI 기반 근로자 참여형 위험성평가 분석 및 월별 안전계도 시스템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229600" y="630936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특허출원: 10-2026-0039151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881360" y="630936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900" dirty="0"/>
          </a:p>
        </p:txBody>
      </p:sp>
      <p:pic>
        <p:nvPicPr>
          <p:cNvPr id="9" name="Image 0" descr="c:\Users\user\OneDrive\Desktop\개발실\NEW-PSI-github\docs\daewoo_deck\screenshots\02_newpsi_ocr_uploa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371600"/>
            <a:ext cx="5212080" cy="411480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6217920" y="13716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종이 수기 기록지의 지능적 디지털 텍스트화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6217920" y="1920240"/>
            <a:ext cx="54864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모바일로 간편히 촬영하거나 대형 스캐너로 수 취합된 종이 위험성평가지 고속 이미지 분할 검출</a:t>
            </a:r>
            <a:endParaRPr lang="en-US" sz="1150" dirty="0"/>
          </a:p>
          <a:p>
            <a:pPr indent="0" marL="0">
              <a:lnSpc>
                <a:spcPts val="1800"/>
              </a:lnSpc>
              <a:buNone/>
            </a:pPr>
            <a:endParaRPr lang="en-US" sz="11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현장 전용 한국어 및 다국어 필기체 OCR 판독 모듈 내장으로 높은 텍스트 원문 추출율 확보</a:t>
            </a:r>
            <a:endParaRPr lang="en-US" sz="1150" dirty="0"/>
          </a:p>
          <a:p>
            <a:pPr indent="0" marL="0">
              <a:lnSpc>
                <a:spcPts val="1800"/>
              </a:lnSpc>
              <a:buNone/>
            </a:pPr>
            <a:endParaRPr lang="en-US" sz="11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추출 텍스트 원문과 실제 수기 이미지의 동시 병렬 대조 인터페이스 설계로 신속한 승인 확인 지원</a:t>
            </a:r>
            <a:endParaRPr lang="en-US" sz="1150" dirty="0"/>
          </a:p>
          <a:p>
            <a:pPr indent="0" marL="0">
              <a:lnSpc>
                <a:spcPts val="1800"/>
              </a:lnSpc>
              <a:buNone/>
            </a:pPr>
            <a:endParaRPr lang="en-US" sz="11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개인정보 자동 비식별화 전처리(블러/마스킹) 적용으로 보안 강화 및 데이터 노출 유출 리스크 봉쇄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731520"/>
            <a:ext cx="11274552" cy="27432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프로그램 화면: 5문항 구조화 및 6대 지표 정량화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8229600" y="27432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NEW-PSI Safety Intelligence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6217920"/>
            <a:ext cx="11274552" cy="18288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630936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NEW-PSI: AI 기반 근로자 참여형 위험성평가 분석 및 월별 안전계도 시스템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229600" y="630936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특허출원: 10-2026-0039151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881360" y="630936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900" dirty="0"/>
          </a:p>
        </p:txBody>
      </p:sp>
      <p:pic>
        <p:nvPicPr>
          <p:cNvPr id="9" name="Image 0" descr="c:\Users\user\OneDrive\Desktop\개발실\NEW-PSI-github\docs\daewoo_deck\screenshots\03_newpsi_five_question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371600"/>
            <a:ext cx="5212080" cy="3657600"/>
          </a:xfrm>
          <a:prstGeom prst="rect">
            <a:avLst/>
          </a:prstGeom>
        </p:spPr>
      </p:pic>
      <p:pic>
        <p:nvPicPr>
          <p:cNvPr id="10" name="Image 1" descr="c:\Users\user\OneDrive\Desktop\개발실\NEW-PSI-github\docs\daewoo_deck\screenshots\04_newpsi_six_indicator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371600"/>
            <a:ext cx="5212080" cy="365760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57200" y="521208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[AI 5문항 구조 분석실] 근로자의 자필 텍스트를 AI 자연어 엔진이 분석하여 위험요인 및 조치계획 등 5대 항목으로 자동 매핑 분류합니다.</a:t>
            </a:r>
            <a:endParaRPr lang="en-US" sz="10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[6대 안전지표 종합 정량화] 작업자의 위험감수 성향을 위험인지성, 숙련도, 이행력 등 6가지 계량 지표로 수치화하여 객관적 통계 추세를 모니터링합니다.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731520"/>
            <a:ext cx="11274552" cy="27432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프로그램 화면: 월별 계도 및 다국어 TBM 환류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8229600" y="27432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NEW-PSI Safety Intelligence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6217920"/>
            <a:ext cx="11274552" cy="18288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630936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NEW-PSI: AI 기반 근로자 참여형 위험성평가 분석 및 월별 안전계도 시스템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229600" y="630936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특허출원: 10-2026-0039151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881360" y="630936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900" dirty="0"/>
          </a:p>
        </p:txBody>
      </p:sp>
      <p:pic>
        <p:nvPicPr>
          <p:cNvPr id="9" name="Image 0" descr="c:\Users\user\OneDrive\Desktop\개발실\NEW-PSI-github\docs\daewoo_deck\screenshots\05_newpsi_monthly_repor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371600"/>
            <a:ext cx="3383280" cy="3657600"/>
          </a:xfrm>
          <a:prstGeom prst="rect">
            <a:avLst/>
          </a:prstGeom>
        </p:spPr>
      </p:pic>
      <p:pic>
        <p:nvPicPr>
          <p:cNvPr id="10" name="Image 1" descr="c:\Users\user\OneDrive\Desktop\개발실\NEW-PSI-github\docs\daewoo_deck\screenshots\06_newpsi_multilingual_a4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06240" y="1371600"/>
            <a:ext cx="3383280" cy="3657600"/>
          </a:xfrm>
          <a:prstGeom prst="rect">
            <a:avLst/>
          </a:prstGeom>
        </p:spPr>
      </p:pic>
      <p:pic>
        <p:nvPicPr>
          <p:cNvPr id="11" name="Image 2" descr="c:\Users\user\OneDrive\Desktop\개발실\NEW-PSI-github\docs\daewoo_deck\screenshots\07_newpsi_pdf_expor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5280" y="1371600"/>
            <a:ext cx="3383280" cy="365760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457200" y="521208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[월별 계도 리포트] 현장의 지적 트렌드와 미비점을 파악하여 익명 종합 보고서 자동 생성 및 피드백.</a:t>
            </a:r>
            <a:endParaRPr lang="en-US" sz="10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[다국어 A4 교육자료] 모국어로 인쇄된 다음 달 안전 교재 시트를 원클릭 생성하여 아침 TBM 전파 교육에 밀착 연동.</a:t>
            </a:r>
            <a:endParaRPr lang="en-US" sz="10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[원클릭 PDF/PPT 추출] 언제든지 인쇄하거나 현장 보고용 발표 슬라이드로 사용할 수 있도록 포맷 맞춤 내보내기 제공.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731520"/>
            <a:ext cx="11274552" cy="27432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Human-in-the-loop 기반 현장 운영 원칙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8229600" y="27432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NEW-PSI Safety Intelligence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6217920"/>
            <a:ext cx="11274552" cy="18288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630936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NEW-PSI: AI 기반 근로자 참여형 위험성평가 분석 및 월별 안전계도 시스템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229600" y="630936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특허출원: 10-2026-0039151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881360" y="630936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57200" y="13716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현장 안전관리 협업의 4대 철칙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57200" y="1828800"/>
            <a:ext cx="548640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안전관리자 최종 검토 및 승인: AI OCR 인식 오류, 문맥 오해, 현장의 임시 설계 조건 누락 보정을 위해 모든 1차 생성물은 인간 관리자가 최종 승인하여 현장에 공표합니다.</a:t>
            </a: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징계/인사 조치 도구 활용 절대 금지: 근로자를 감시하거나 벌점/처벌 목적으로 활용되지 않으며, 작업자의 성향별 맞춤 코칭 교육 지도를 위한 기술적 안내 수단으로만 가동합니다.</a:t>
            </a: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개인정보 격리 및 비식별화 통제: 근로자 개인 스코어나 서술 원문은 안전관리자의 통제 영역 내부로 격리하며, 전파 교육 시에는 완전 익명 종합 경향 통계자료로만 배포합니다.</a:t>
            </a: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기존 종합안전망 보완형 모듈: 대우건설 기존 종합안전관리 시스템을 침범하지 않으며, 전단계에서 손글씨 데이터의 무결성을 확보하여 기존 안전 플랫폼의 입력 품질을 끌어올립니다.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583680" y="1371600"/>
            <a:ext cx="4846320" cy="201168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858000" y="1554480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인간 중심 검증 (Human-in-the-loop)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858000" y="1920240"/>
            <a:ext cx="42976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기계적 판단에 의한 불필요한 마찰을 예방하고 실제 소통에 필요한 안전의 인문학적 성격을 결합하기 위해, 안전관리자가 최종 교정·편집 개입할 수 있는 승인 파이프라인을 설계했습니다.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583680" y="3657600"/>
            <a:ext cx="4846320" cy="2011680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858000" y="3840480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보안 및 데이터 관리 제한 정책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858000" y="4206240"/>
            <a:ext cx="42976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개인 원천 자필 이미지는 3개월 보관 후 자동 폐기 전처리</a:t>
            </a:r>
            <a:endParaRPr lang="en-US" sz="10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로컬 키오스크 모바일 서명 연동 시 암호화 서명만 추출 적재</a:t>
            </a:r>
            <a:endParaRPr lang="en-US" sz="10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Vercel serverless functions 연동 시 KMS 규격 준수 암호화 전송</a:t>
            </a:r>
            <a:endParaRPr lang="en-US" sz="10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외부 노출 없는 샌드박스 테스팅을 통한 유출 리스크 완전 방지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731520"/>
            <a:ext cx="11274552" cy="27432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대우건설 현장 적용을 위한 PoC 계획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8229600" y="27432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NEW-PSI Safety Intelligence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6217920"/>
            <a:ext cx="11274552" cy="18288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630936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NEW-PSI: AI 기반 근로자 참여형 위험성평가 분석 및 월별 안전계도 시스템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229600" y="630936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특허출원: 10-2026-0039151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881360" y="630936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57200" y="13716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8~12주 PoC 현장 검증 절차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57200" y="1828800"/>
            <a:ext cx="548640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1주차: 기준 협의 및 개인정보 비식별화 가이드라인 규정 및 현장 대상(100~300명) 인원 선정 수집 체계 튜닝</a:t>
            </a:r>
            <a:endParaRPr lang="en-US" sz="1050" dirty="0"/>
          </a:p>
          <a:p>
            <a:pPr indent="0" marL="0">
              <a:lnSpc>
                <a:spcPts val="1600"/>
              </a:lnSpc>
              <a:buNone/>
            </a:pPr>
            <a:endParaRPr lang="en-US" sz="10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2~3주차: 현장 수기지 스캔 회수 및 OCR/AI 판독 지표 분석 도출 정밀 검증 1차 시험 가동</a:t>
            </a:r>
            <a:endParaRPr lang="en-US" sz="1050" dirty="0"/>
          </a:p>
          <a:p>
            <a:pPr indent="0" marL="0">
              <a:lnSpc>
                <a:spcPts val="1600"/>
              </a:lnSpc>
              <a:buNone/>
            </a:pPr>
            <a:endParaRPr lang="en-US" sz="10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4~5주차: 월별 안전 계도 리포트 발행 및 각국 다국어 TBM 안전 한장자료 자동 생성 전파 시범 적용</a:t>
            </a:r>
            <a:endParaRPr lang="en-US" sz="1050" dirty="0"/>
          </a:p>
          <a:p>
            <a:pPr indent="0" marL="0">
              <a:lnSpc>
                <a:spcPts val="1600"/>
              </a:lnSpc>
              <a:buNone/>
            </a:pPr>
            <a:endParaRPr lang="en-US" sz="10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6~7주차: 모국어 안전교육 실시 후 차월 근로자 위험성평가 작성의 실질적 품질 향상 변화율 밀착 모니터링</a:t>
            </a:r>
            <a:endParaRPr lang="en-US" sz="1050" dirty="0"/>
          </a:p>
          <a:p>
            <a:pPr indent="0" marL="0">
              <a:lnSpc>
                <a:spcPts val="1600"/>
              </a:lnSpc>
              <a:buNone/>
            </a:pPr>
            <a:endParaRPr lang="en-US" sz="10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8주차: PoC 전후 KPI 종합 대비 계측 및 대우건설 지정 KPI 최종 성과보고서 작성 제출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6583680" y="137160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PoC 핵심 성과 측정지표 (KPI)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583680" y="1828800"/>
            <a:ext cx="4846320" cy="6858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675120" y="19202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OCR 성공률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675120" y="214884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손글씨 한글 필기체 인식 및 5문항 매핑 정확도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9875520" y="192024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90% 이상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583680" y="2606040"/>
            <a:ext cx="4846320" cy="6858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675120" y="26974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보고서 자동화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675120" y="292608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안전관리자 수기 데이터 단순 가공 행정 시간 단축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9875520" y="269748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30% 이상 절감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6583680" y="3383280"/>
            <a:ext cx="4846320" cy="6858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675120" y="34747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교육자료 시간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675120" y="370332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다국어 TBM 전파 시트 원클릭 번역 생성 시간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9875520" y="347472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90% 단축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6583680" y="4160520"/>
            <a:ext cx="4846320" cy="6858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675120" y="42519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외국인 확인율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675120" y="448056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모바일 다국어 서약서 서명 및 교육 수락 제출 비중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9875520" y="425196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95% 이상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6583680" y="4937760"/>
            <a:ext cx="4846320" cy="6858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675120" y="50292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동일 지적률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675120" y="525780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전월 계도 환류 이후 근로자 안전 위반 사항의 차월 감소율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9875520" y="502920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20% 이상 감소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731520"/>
            <a:ext cx="11274552" cy="27432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독점적 기술 증빙 및 기대효과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8229600" y="27432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NEW-PSI Safety Intelligence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6217920"/>
            <a:ext cx="11274552" cy="18288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630936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NEW-PSI: AI 기반 근로자 참여형 위험성평가 분석 및 월별 안전계도 시스템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229600" y="630936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특허출원: 10-2026-0039151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881360" y="630936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57200" y="13716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특허출원 기반의 원천 기술 경쟁력 확보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457200" y="1828800"/>
            <a:ext cx="5486400" cy="210312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1965960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 대한민국 특허출원 완료 (원천 기술 독점 확보)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40080" y="2286000"/>
            <a:ext cx="512064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출원번호: 10-2026-0039151</a:t>
            </a:r>
            <a:endParaRPr lang="en-US" sz="10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출원일자: 2026년 3월 4일</a:t>
            </a:r>
            <a:endParaRPr lang="en-US" sz="10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발명의 명칭: 인공지능(AI) 기반 위험성평가 무결성 검증 및 대규모 근로자 안전 관리 자동화 시스템</a:t>
            </a:r>
            <a:endParaRPr lang="en-US" sz="10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주요 대외 인증: 2026 모두의 아이디어 지정공모 우수참가자 선정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57200" y="4114800"/>
            <a:ext cx="54864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자율 예방 체계의 정량 조기 안착: 수동적 지시 체계를 탈피하고 근로자가 직접 위험 요소를 고민해 기록하는 자기규율 TBM 정착화.</a:t>
            </a: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안전 데이터 자산화: 아카이브 사장되던 종이 수기 자료를 분석 가능한 통합 안전 지능(Safety Intelligence) 빅데이터로 전환.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583680" y="137160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대우건설 도입 시 정량 기대효과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6583680" y="1828800"/>
            <a:ext cx="2286000" cy="18288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675120" y="192024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현장 중대재해 예방율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675120" y="2194560"/>
            <a:ext cx="2103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6675120" y="2834640"/>
            <a:ext cx="2103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8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위험성평가 누출 예방 및 밀착 개선조치 이행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9144000" y="1828800"/>
            <a:ext cx="2286000" cy="18288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235440" y="192024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반복 지적 재발률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9235440" y="2194560"/>
            <a:ext cx="2103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-20%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9235440" y="2834640"/>
            <a:ext cx="2103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8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전월 계도 기반 안전 수칙 자율 의지 향상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6583680" y="3931920"/>
            <a:ext cx="2286000" cy="18288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675120" y="402336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안전관리 행정 시간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675120" y="4297680"/>
            <a:ext cx="2103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-4hr/wk</a:t>
            </a:r>
            <a:endParaRPr lang="en-US" sz="2400" dirty="0"/>
          </a:p>
        </p:txBody>
      </p:sp>
      <p:sp>
        <p:nvSpPr>
          <p:cNvPr id="26" name="Text 24"/>
          <p:cNvSpPr/>
          <p:nvPr/>
        </p:nvSpPr>
        <p:spPr>
          <a:xfrm>
            <a:off x="6675120" y="4937760"/>
            <a:ext cx="2103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8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수기 정리/취합/PPT 보고서 가공 업무 자동화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9144000" y="3931920"/>
            <a:ext cx="2286000" cy="18288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235440" y="402336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기존 안전 시스템 보완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9235440" y="4297680"/>
            <a:ext cx="2103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endParaRPr lang="en-US" sz="2400" dirty="0"/>
          </a:p>
        </p:txBody>
      </p:sp>
      <p:sp>
        <p:nvSpPr>
          <p:cNvPr id="30" name="Text 28"/>
          <p:cNvSpPr/>
          <p:nvPr/>
        </p:nvSpPr>
        <p:spPr>
          <a:xfrm>
            <a:off x="9235440" y="4937760"/>
            <a:ext cx="2103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8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대우건설 기존 종합안전망 입력 신뢰도 극대화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NEW-PSI Safety Intelligence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NEW-PSI 기술소개자료</dc:title>
  <dc:subject>PptxGenJS Presentation</dc:subject>
  <dc:creator>예비창업자 박성훈</dc:creator>
  <cp:lastModifiedBy>예비창업자 박성훈</cp:lastModifiedBy>
  <cp:revision>1</cp:revision>
  <dcterms:created xsi:type="dcterms:W3CDTF">2026-06-13T00:15:06Z</dcterms:created>
  <dcterms:modified xsi:type="dcterms:W3CDTF">2026-06-13T00:15:06Z</dcterms:modified>
</cp:coreProperties>
</file>